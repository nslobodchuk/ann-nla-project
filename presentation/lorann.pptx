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07" d="100"/>
          <a:sy n="107" d="100"/>
        </p:scale>
        <p:origin x="9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8D61-8C82-64D4-883E-5DAD6E399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C2530-32CA-68D0-5F4B-8FB7ED98D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9DD96-6EC0-71A3-B72A-6391BB9D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C0DC-AF1B-35A1-D57B-17C71C77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48CE4-7E5B-D10B-99C5-310CF9F5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8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0848-7DA2-92F7-988F-AF6A4E68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FBEDC-C6F6-8D9F-58B8-2F503B89E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52284-0C45-1384-B43B-9B23D418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2922-164E-F8CF-97AF-F038F1EE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87773-609B-4858-82E5-789D1C91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8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9C29B-9726-62CB-69E3-B1FF2703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D8236-A6C0-92F1-1CD7-BC2D9208B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2E5B0-9DE9-7A48-75D5-AE3FA0BE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1182-E7F5-CB22-5726-450383FA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50F44-430A-ED1B-694C-A58D99EB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D0A0-D057-98CD-F057-3000FCF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8F98-B709-64E9-5575-D0FB8D1AF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6B6C4-D324-9458-187C-95F18523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D8FAF-B682-990D-5E7C-144BC1C8B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B3447-60CE-CB91-915B-1B2CE57A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73CB-8677-A985-CF19-40F971C7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8CBF-27AA-1D13-14B7-27844AEF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3E07C-1F1C-6C95-CAB0-23B41F72B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9FF3E-4A3F-0AE7-AF53-96891A4A5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977A89-1566-D667-CD76-9C4089E43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021C5-19B3-7AF3-3EB6-9DCACFCBA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7B3FD-8BEA-D279-7808-6BBF51AE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74FF8-E7E0-C7A5-80B0-799B13D9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E9461-1BE1-D33F-CCEB-CE6E4C01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7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E82-5D3D-0E14-1C55-5B90B372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D555A-70F9-EF43-FFC5-CFA21E0B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79E47-10DA-FD74-489B-95430BE6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6ACD4-76C3-D410-11FD-82C38D8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2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C6AFDC-46DD-BD73-A623-C86BDED2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9B094-EA75-C790-CDCF-BD22AC71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3B824-B4F5-E148-207F-92AAA6FB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1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971A-E5C1-DAA6-34CF-B52ED624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D262-1E59-ACBA-263F-55F58952D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67F13-52ED-6B15-D5EC-A5E45686E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1D238-61C8-0AD6-DA1B-68BD4316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13B97-BEBD-A6BF-EC0A-60121A6C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69432-FDA2-7179-67B7-725D18ED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5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0739-496E-C1AA-90F8-C281F2BD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5C5E43-2C65-3083-AFF6-242A06DFD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5A046-6DEE-BA3A-01AB-344904756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E7802-B618-9493-C716-6EC1237C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45D7-6A48-3541-67AD-4A05969AE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78EE5-A3FD-A8BC-F545-B5193442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0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CBD7-449F-8951-D76D-AB16D222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FC80C-8C60-D2BF-2EFA-EB273EB4C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2DCA2-7AAE-2E97-27F4-B15E51D5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CA47-1110-76F7-1B48-E1FBBEA6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48BAC-21FA-6DB3-3B2F-93F855B4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0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D2542-2562-1902-F3CE-283824F77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F8F01-30C5-68C4-E088-D78B224BB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7E364-8B66-DBCB-E88D-827C1E9A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64DFE-65AC-6A9C-09AC-47819BD9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B3A0B-E255-F701-4CFD-6D381A3B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7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5A12F-7624-A56E-03E9-D6643CC7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A0388-15C2-198C-1665-DBF581C68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DD957-D8D5-1FEF-0E04-B63710659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CCB81-AEE1-C547-BF07-592CE5BDDACD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15CF-BED1-D486-598D-93EEB0D38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957AA-A13D-E736-B2C0-6056B613A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3E05F-E188-224E-8897-CB7301581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3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2C017F-3E5B-CE0B-91D0-D2777004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"/>
            <a:ext cx="12192000" cy="68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4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DA0D2C-63DF-2591-34A3-54DDF118E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68"/>
            <a:ext cx="12192000" cy="68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5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C0863-D375-52D0-213A-C117431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LoRANN – </a:t>
            </a:r>
            <a:r>
              <a:rPr lang="ru-RU" sz="2400" dirty="0"/>
              <a:t>результаты экспериментов на </a:t>
            </a:r>
            <a:r>
              <a:rPr lang="en-US" sz="2400" dirty="0" err="1"/>
              <a:t>GloVe</a:t>
            </a:r>
            <a:endParaRPr lang="en-US" sz="2400" dirty="0"/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F2D5E9CD-DFE2-9EC2-694E-FD383C05E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47" y="971146"/>
            <a:ext cx="11989301" cy="3253161"/>
          </a:xfr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9007E33F-30D2-78AB-E531-27ABB2478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39" y="4526885"/>
            <a:ext cx="11535888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 err="1"/>
              <a:t>Наилучшие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по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точности</a:t>
            </a:r>
            <a:r>
              <a:rPr lang="en-US" altLang="en-US" sz="1400" dirty="0"/>
              <a:t> –  </a:t>
            </a:r>
            <a:r>
              <a:rPr lang="en-US" altLang="en-US" sz="1400" dirty="0" err="1"/>
              <a:t>комбинации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с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большим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числом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кластеров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кластеров-для-поиска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то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есть</a:t>
            </a:r>
            <a:r>
              <a:rPr lang="en-US" altLang="en-US" sz="1400" dirty="0"/>
              <a:t> </a:t>
            </a:r>
            <a:r>
              <a:rPr lang="en-US" altLang="en-US" sz="1400" dirty="0" err="1"/>
              <a:t>n_clusters</a:t>
            </a:r>
            <a:r>
              <a:rPr lang="en-US" altLang="en-US" sz="1400" dirty="0"/>
              <a:t> ≈ 4096–8192, </a:t>
            </a:r>
            <a:r>
              <a:rPr lang="en-US" altLang="en-US" sz="1400" dirty="0" err="1"/>
              <a:t>n_probe</a:t>
            </a:r>
            <a:r>
              <a:rPr lang="en-US" altLang="en-US" sz="1400" dirty="0"/>
              <a:t> ≈ 128–256, </a:t>
            </a:r>
            <a:r>
              <a:rPr lang="en-US" altLang="en-US" sz="1400" dirty="0" err="1"/>
              <a:t>candidate_count</a:t>
            </a:r>
            <a:r>
              <a:rPr lang="en-US" altLang="en-US" sz="1400" dirty="0"/>
              <a:t> ≥ 5000, rank ≥ 64. </a:t>
            </a:r>
            <a:r>
              <a:rPr lang="en-US" altLang="en-US" sz="1400" dirty="0" err="1"/>
              <a:t>Эти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параметры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давали</a:t>
            </a:r>
            <a:r>
              <a:rPr lang="en-US" altLang="en-US" sz="1400" dirty="0"/>
              <a:t> recall@10 ≈ 0.97–0.99, </a:t>
            </a:r>
            <a:r>
              <a:rPr lang="en-US" altLang="en-US" sz="1400" dirty="0" err="1"/>
              <a:t>но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время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запроса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увеличивалось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до</a:t>
            </a:r>
            <a:r>
              <a:rPr lang="en-US" altLang="en-US" sz="1400" dirty="0"/>
              <a:t> 5–6 </a:t>
            </a:r>
            <a:r>
              <a:rPr lang="en-US" altLang="en-US" sz="1400" dirty="0" err="1"/>
              <a:t>мс</a:t>
            </a:r>
            <a:r>
              <a:rPr lang="en-US" altLang="en-US" sz="1400" dirty="0"/>
              <a:t>/</a:t>
            </a:r>
            <a:r>
              <a:rPr lang="en-US" altLang="en-US" sz="1400" dirty="0" err="1"/>
              <a:t>запрос</a:t>
            </a:r>
            <a:r>
              <a:rPr lang="en-US" altLang="en-US" sz="14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 err="1"/>
              <a:t>Самые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быстрые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но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с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наихудшей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точностью</a:t>
            </a:r>
            <a:r>
              <a:rPr lang="en-US" altLang="en-US" sz="1400" dirty="0"/>
              <a:t> – </a:t>
            </a:r>
            <a:r>
              <a:rPr lang="en-US" altLang="en-US" sz="1400" dirty="0" err="1"/>
              <a:t>n_clusters</a:t>
            </a:r>
            <a:r>
              <a:rPr lang="en-US" altLang="en-US" sz="1400" dirty="0"/>
              <a:t> ≈ 1024–2048, </a:t>
            </a:r>
            <a:r>
              <a:rPr lang="en-US" altLang="en-US" sz="1400" dirty="0" err="1"/>
              <a:t>n_probe</a:t>
            </a:r>
            <a:r>
              <a:rPr lang="en-US" altLang="en-US" sz="1400" dirty="0"/>
              <a:t> = 1–2, </a:t>
            </a:r>
            <a:r>
              <a:rPr lang="en-US" altLang="en-US" sz="1400" dirty="0" err="1"/>
              <a:t>candidate_count</a:t>
            </a:r>
            <a:r>
              <a:rPr lang="en-US" altLang="en-US" sz="1400" dirty="0"/>
              <a:t> ≤ 200, rank = 8. </a:t>
            </a:r>
            <a:r>
              <a:rPr lang="en-US" altLang="en-US" sz="1400" dirty="0" err="1"/>
              <a:t>При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таких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настройках</a:t>
            </a:r>
            <a:r>
              <a:rPr lang="en-US" altLang="en-US" sz="1400" dirty="0"/>
              <a:t> recall@10 </a:t>
            </a:r>
            <a:r>
              <a:rPr lang="en-US" altLang="en-US" sz="1400" dirty="0" err="1"/>
              <a:t>падал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до</a:t>
            </a:r>
            <a:r>
              <a:rPr lang="en-US" altLang="en-US" sz="1400" dirty="0"/>
              <a:t> 0.35–0.55, </a:t>
            </a:r>
            <a:r>
              <a:rPr lang="en-US" altLang="en-US" sz="1400" dirty="0" err="1"/>
              <a:t>зато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время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запроса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было</a:t>
            </a:r>
            <a:r>
              <a:rPr lang="en-US" altLang="en-US" sz="1400" dirty="0"/>
              <a:t> &lt; 0.5 </a:t>
            </a:r>
            <a:r>
              <a:rPr lang="en-US" altLang="en-US" sz="1400" dirty="0" err="1"/>
              <a:t>мс</a:t>
            </a:r>
            <a:r>
              <a:rPr lang="en-US" altLang="en-US" sz="1400" dirty="0"/>
              <a:t>/</a:t>
            </a:r>
            <a:r>
              <a:rPr lang="en-US" altLang="en-US" sz="1400" dirty="0" err="1"/>
              <a:t>запрос</a:t>
            </a:r>
            <a:r>
              <a:rPr lang="en-US" altLang="en-US" sz="14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 err="1"/>
              <a:t>Оптимальные</a:t>
            </a:r>
            <a:r>
              <a:rPr lang="en-US" altLang="en-US" sz="1400" dirty="0"/>
              <a:t> (</a:t>
            </a:r>
            <a:r>
              <a:rPr lang="en-US" altLang="en-US" sz="1400" dirty="0" err="1"/>
              <a:t>на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Парето-границе</a:t>
            </a:r>
            <a:r>
              <a:rPr lang="en-US" altLang="en-US" sz="1400" dirty="0"/>
              <a:t>) — </a:t>
            </a:r>
            <a:r>
              <a:rPr lang="en-US" altLang="en-US" sz="1400" dirty="0" err="1"/>
              <a:t>конфигурации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вроде</a:t>
            </a:r>
            <a:r>
              <a:rPr lang="en-US" altLang="en-US" sz="1400" dirty="0"/>
              <a:t> </a:t>
            </a:r>
            <a:r>
              <a:rPr lang="en-US" altLang="en-US" sz="1400" dirty="0" err="1"/>
              <a:t>n_clusters</a:t>
            </a:r>
            <a:r>
              <a:rPr lang="en-US" altLang="en-US" sz="1400" dirty="0"/>
              <a:t> ≈ 4096, </a:t>
            </a:r>
            <a:r>
              <a:rPr lang="en-US" altLang="en-US" sz="1400" dirty="0" err="1"/>
              <a:t>n_probe</a:t>
            </a:r>
            <a:r>
              <a:rPr lang="en-US" altLang="en-US" sz="1400" dirty="0"/>
              <a:t> ≈ 32–64, </a:t>
            </a:r>
            <a:r>
              <a:rPr lang="en-US" altLang="en-US" sz="1400" dirty="0" err="1"/>
              <a:t>candidate_count</a:t>
            </a:r>
            <a:r>
              <a:rPr lang="en-US" altLang="en-US" sz="1400" dirty="0"/>
              <a:t> ≈ 1000–2000, rank = 16–32. </a:t>
            </a:r>
            <a:r>
              <a:rPr lang="en-US" altLang="en-US" sz="1400" dirty="0" err="1"/>
              <a:t>Они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обеспечивали</a:t>
            </a:r>
            <a:r>
              <a:rPr lang="en-US" altLang="en-US" sz="1400" dirty="0"/>
              <a:t> recall@10 ≈ 0.9–0.95 </a:t>
            </a:r>
            <a:r>
              <a:rPr lang="en-US" altLang="en-US" sz="1400" dirty="0" err="1"/>
              <a:t>при</a:t>
            </a:r>
            <a:r>
              <a:rPr lang="en-US" altLang="en-US" sz="1400" dirty="0"/>
              <a:t> 1–2 </a:t>
            </a:r>
            <a:r>
              <a:rPr lang="en-US" altLang="en-US" sz="1400" dirty="0" err="1"/>
              <a:t>мс</a:t>
            </a:r>
            <a:r>
              <a:rPr lang="en-US" altLang="en-US" sz="1400" dirty="0"/>
              <a:t>/</a:t>
            </a:r>
            <a:r>
              <a:rPr lang="en-US" altLang="en-US" sz="1400" dirty="0" err="1"/>
              <a:t>запрос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давая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наилучший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баланс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точности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скорости</a:t>
            </a:r>
            <a:r>
              <a:rPr lang="en-US" altLang="en-US" sz="14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400" dirty="0" err="1"/>
              <a:t>Разница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между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датасетами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по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размерности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эмбеддингов</a:t>
            </a:r>
            <a:r>
              <a:rPr lang="en-US" altLang="en-US" sz="1400" dirty="0"/>
              <a:t> (100 / 200 / 300): </a:t>
            </a:r>
            <a:r>
              <a:rPr lang="en-US" altLang="en-US" sz="1400" dirty="0" err="1"/>
              <a:t>при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росте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размерности</a:t>
            </a:r>
            <a:r>
              <a:rPr lang="en-US" altLang="en-US" sz="1400" dirty="0"/>
              <a:t> </a:t>
            </a:r>
            <a:r>
              <a:rPr lang="en-US" altLang="en-US" sz="1400" dirty="0" err="1"/>
              <a:t>растёт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время</a:t>
            </a:r>
            <a:r>
              <a:rPr lang="en-US" altLang="en-US" sz="1400" dirty="0"/>
              <a:t> </a:t>
            </a:r>
            <a:r>
              <a:rPr lang="en-US" altLang="en-US" sz="1400" dirty="0" err="1"/>
              <a:t>запроса</a:t>
            </a:r>
            <a:r>
              <a:rPr lang="en-US" altLang="en-US" sz="1400" dirty="0"/>
              <a:t> </a:t>
            </a:r>
            <a:r>
              <a:rPr lang="ru-RU" altLang="en-US" sz="1400" dirty="0"/>
              <a:t>и падает </a:t>
            </a:r>
            <a:r>
              <a:rPr lang="en-US" altLang="en-US" sz="1400" dirty="0"/>
              <a:t>recall.</a:t>
            </a:r>
          </a:p>
        </p:txBody>
      </p:sp>
    </p:spTree>
    <p:extLst>
      <p:ext uri="{BB962C8B-B14F-4D97-AF65-F5344CB8AC3E}">
        <p14:creationId xmlns:p14="http://schemas.microsoft.com/office/powerpoint/2010/main" val="91484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184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LoRANN – результаты экспериментов на GloVe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Nikolay S</dc:creator>
  <cp:lastModifiedBy>Nikolay S</cp:lastModifiedBy>
  <cp:revision>1</cp:revision>
  <dcterms:created xsi:type="dcterms:W3CDTF">2025-12-21T20:08:07Z</dcterms:created>
  <dcterms:modified xsi:type="dcterms:W3CDTF">2025-12-21T20:28:14Z</dcterms:modified>
</cp:coreProperties>
</file>